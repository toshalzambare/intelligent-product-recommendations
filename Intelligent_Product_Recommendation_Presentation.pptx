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MACHINE LEARNING · DATA MINING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Product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Basket Analyzer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hidden purchase patterns in retail transactions with Association Rule Mining — turned into real-time “frequently bought together” recommendations.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1049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937760"/>
            <a:ext cx="745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31036" y="4937760"/>
            <a:ext cx="900684" cy="329184"/>
          </a:xfrm>
          <a:prstGeom prst="roundRect">
            <a:avLst>
              <a:gd name="adj" fmla="val 50000"/>
            </a:avLst>
          </a:prstGeom>
          <a:solidFill>
            <a:srgbClr val="1049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31036" y="4937760"/>
            <a:ext cx="9006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4937760"/>
            <a:ext cx="2299716" cy="329184"/>
          </a:xfrm>
          <a:prstGeom prst="roundRect">
            <a:avLst>
              <a:gd name="adj" fmla="val 50000"/>
            </a:avLst>
          </a:prstGeom>
          <a:solidFill>
            <a:srgbClr val="1049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68880" y="4937760"/>
            <a:ext cx="2299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Confidence · Lift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05756" y="493776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1049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05756" y="4937760"/>
            <a:ext cx="745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88152" y="4937760"/>
            <a:ext cx="900684" cy="329184"/>
          </a:xfrm>
          <a:prstGeom prst="roundRect">
            <a:avLst>
              <a:gd name="adj" fmla="val 50000"/>
            </a:avLst>
          </a:prstGeom>
          <a:solidFill>
            <a:srgbClr val="1049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88152" y="4937760"/>
            <a:ext cx="9006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25996" y="493776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1049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25996" y="4937760"/>
            <a:ext cx="745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66960" y="1828800"/>
            <a:ext cx="1828800" cy="1828800"/>
          </a:xfrm>
          <a:prstGeom prst="ellipse">
            <a:avLst/>
          </a:prstGeom>
          <a:solidFill>
            <a:srgbClr val="10496B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0" y="18288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🛒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61848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retailers need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basket size with “customers also bought” suggestions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must come from real purchase behaviour, not guesswork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run fast, at catalog scale, without manual curation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0496B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19672" y="161848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65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co-occurrence patterns across thousands of past invoices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products are statistically bought together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serve those patterns as live recommendations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B3D57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4023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4023360"/>
            <a:ext cx="1472184" cy="502920"/>
          </a:xfrm>
          <a:prstGeom prst="roundRect">
            <a:avLst>
              <a:gd name="adj" fmla="val 14545"/>
            </a:avLst>
          </a:prstGeom>
          <a:solidFill>
            <a:srgbClr val="0B3D57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402336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32504" y="4023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98264" y="4023360"/>
            <a:ext cx="1732788" cy="502920"/>
          </a:xfrm>
          <a:prstGeom prst="roundRect">
            <a:avLst>
              <a:gd name="adj" fmla="val 14545"/>
            </a:avLst>
          </a:prstGeom>
          <a:solidFill>
            <a:srgbClr val="0B3D57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98264" y="4023360"/>
            <a:ext cx="17327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31052" y="4023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6812" y="4023360"/>
            <a:ext cx="1993392" cy="502920"/>
          </a:xfrm>
          <a:prstGeom prst="roundRect">
            <a:avLst>
              <a:gd name="adj" fmla="val 14545"/>
            </a:avLst>
          </a:prstGeom>
          <a:solidFill>
            <a:srgbClr val="0B3D57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6812" y="402336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Recommendations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08792" y="6400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541,909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line-items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9768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~25,900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invoices (baskets)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4173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of raw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447288"/>
            <a:ext cx="10552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/ Kaggle "Online Retail" Dataset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404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InvoiceNo — groups items into one basket / transaction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— the product name (our “item”)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UnitPrice, InvoiceDate, CustomerID, Country — supporting context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UK-based online gift retailer — real customer purchase history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08792" y="6400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Clean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missing InvoiceNo/Description; remove blank descriptions.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Remove Cancellations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920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starting with “C” are cancelled orders — excluded.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1546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Filter by Country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20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United Kingdom to shrink size &amp; speed up mining.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017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31546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Form Baskets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520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InvoiceNo → list of products per invoice = one basket.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0496B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One-Hot Encoding (TransactionEncoder)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basket becomes a row; every unique product becomes a column; cell = True/False (bought or not). This sparse boolean matrix is what the mining algorithms operate on.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08792" y="6400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ML Concept: Market Basket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— there is no label to predict. The goal is to discover structure: which items co-occur far more often than random chance.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12140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Itemset Mining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combinations of products that appear together in at least a minimum fraction of all baskets (min_support).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212140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Rule Generation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23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frequent itemsets into “if A → then B” rules, scored by reliability and meaningfulness.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CEFE0"/>
          </a:solidFill>
          <a:ln w="12700">
            <a:solidFill>
              <a:srgbClr val="F0D6A8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Important distinction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train/test split, no accuracy against held-out labels. “Confidence” here is a descriptive statistic about historical data — not a generalization guarantee.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08792" y="6400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1 — Apriori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6400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618488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Strategy: Generate &amp; Test (breadth-first)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count single items, keep frequent ones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2: combine into pairs, count, prune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3: combine into triples … and so 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Apriori property: if an itemset is infrequent, every superset is infrequent too — enabling pruning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78040" y="1417320"/>
            <a:ext cx="4434840" cy="4023360"/>
          </a:xfrm>
          <a:prstGeom prst="roundRect">
            <a:avLst>
              <a:gd name="adj" fmla="val 1818"/>
            </a:avLst>
          </a:prstGeom>
          <a:solidFill>
            <a:srgbClr val="FCEFE0"/>
          </a:solidFill>
          <a:ln w="12700">
            <a:solidFill>
              <a:srgbClr val="F0D6A8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1031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fresh full database scan for every itemset length, and candidate generation explodes combinatorially with catalog size — becomes very slow on large e-commerce datasets.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08792" y="6400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2 — FP-Growth (used in production)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0496B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Strategy: Divide &amp; Conquer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1: count item frequencies, discard rare items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2: build a compressed FP-Tree — shared prefixes across baskets collapse into shared branches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mine “conditional pattern bases” from the tree — no candidate generation at all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total database scans needed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19672" y="161848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 vs FP-Growth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65960"/>
          <a:ext cx="4892040" cy="3291840"/>
        </p:xfrm>
        <a:graphic>
          <a:graphicData uri="http://schemas.openxmlformats.org/drawingml/2006/table">
            <a:tbl>
              <a:tblPr/>
              <a:tblGrid>
                <a:gridCol w="1554480"/>
                <a:gridCol w="1691640"/>
                <a:gridCol w="1645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Apriori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FP-Growth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Scans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 itemset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Gen.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(explosive)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at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lists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1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10908792" y="6400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Metric: Support · Confidence · Lift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Support(A→C)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22960" y="19019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= count(A ∪ C) / total_transactions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0195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common is this combo overall? e.g. “In what % of ALL orders do Laptop &amp; Mouse appear together?”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0496B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Confidence(A→C) — main filter, ≥ 50% here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685032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0B3D57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822960" y="36850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= support(A ∪ C) / support(A)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68503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 | A): “Given someone bought A, what fraction of the time did they also buy C?”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Lift(A→C)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468112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22960" y="54681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 = confidence(A→C) / support(C)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546811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relationship real, or is C just generally popular? Lift &gt; 1 = genuine positive association.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08792" y="6400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Recommendations (Inference)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runtime, there is no more “learning” — it's a fast lookup and filter over the pre-mined rules table.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24712" cy="502920"/>
          </a:xfrm>
          <a:prstGeom prst="roundRect">
            <a:avLst>
              <a:gd name="adj" fmla="val 14545"/>
            </a:avLst>
          </a:prstGeom>
          <a:solidFill>
            <a:srgbClr val="10496B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124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items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1828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39112" y="1828800"/>
            <a:ext cx="1559052" cy="502920"/>
          </a:xfrm>
          <a:prstGeom prst="roundRect">
            <a:avLst>
              <a:gd name="adj" fmla="val 14545"/>
            </a:avLst>
          </a:prstGeom>
          <a:solidFill>
            <a:srgbClr val="10496B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39112" y="1828800"/>
            <a:ext cx="15590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 match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98164" y="1828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63924" y="18288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0496B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3924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conf/lift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09844" y="1828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75604" y="1828800"/>
            <a:ext cx="1385316" cy="502920"/>
          </a:xfrm>
          <a:prstGeom prst="roundRect">
            <a:avLst>
              <a:gd name="adj" fmla="val 14545"/>
            </a:avLst>
          </a:prstGeom>
          <a:solidFill>
            <a:srgbClr val="10496B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75604" y="1828800"/>
            <a:ext cx="1385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dedupe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1828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26680" y="1828800"/>
            <a:ext cx="1906524" cy="502920"/>
          </a:xfrm>
          <a:prstGeom prst="roundRect">
            <a:avLst>
              <a:gd name="adj" fmla="val 14545"/>
            </a:avLst>
          </a:prstGeom>
          <a:solidFill>
            <a:srgbClr val="10496B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1828800"/>
            <a:ext cx="1906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recommendations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4672" y="303580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matching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3832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rules whose antecedent is a subset of the user's cart — supports single- and multi-item carts naturally.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283464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10496B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37960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3832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matches by (confidence, lift) descending, then deduplicate — keeping the highest-confidence rule per product.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08792" y="6400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554480"/>
            <a:ext cx="1298448" cy="502920"/>
          </a:xfrm>
          <a:prstGeom prst="roundRect">
            <a:avLst>
              <a:gd name="adj" fmla="val 14545"/>
            </a:avLst>
          </a:prstGeom>
          <a:solidFill>
            <a:srgbClr val="0B3D57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5544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87168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52928" y="1554480"/>
            <a:ext cx="1559052" cy="502920"/>
          </a:xfrm>
          <a:prstGeom prst="roundRect">
            <a:avLst>
              <a:gd name="adj" fmla="val 14545"/>
            </a:avLst>
          </a:prstGeom>
          <a:solidFill>
            <a:srgbClr val="0B3D57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52928" y="1554480"/>
            <a:ext cx="15590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1198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77740" y="1554480"/>
            <a:ext cx="1732788" cy="502920"/>
          </a:xfrm>
          <a:prstGeom prst="roundRect">
            <a:avLst>
              <a:gd name="adj" fmla="val 14545"/>
            </a:avLst>
          </a:prstGeom>
          <a:solidFill>
            <a:srgbClr val="0B3D57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7740" y="1554480"/>
            <a:ext cx="17327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RecommenderSystem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76288" y="1554480"/>
            <a:ext cx="1906524" cy="502920"/>
          </a:xfrm>
          <a:prstGeom prst="roundRect">
            <a:avLst>
              <a:gd name="adj" fmla="val 14545"/>
            </a:avLst>
          </a:prstGeom>
          <a:solidFill>
            <a:srgbClr val="0B3D57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1554480"/>
            <a:ext cx="19065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.pkl Rule Artifacts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(offline)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42900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train_models.py / notebook mines rules once, saves frequent_itemsets.pkl, association_rules.pkl, product_mapping.pkl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27432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7200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(FastAPI)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42900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pkl files at startup; exposes /recommend, /rules, /analytics, /products, /health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7432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6676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(Streamlit)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42900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recommendation picker, rule explorer with sliders, analytics charts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908792" y="6400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61848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&amp; multi-product recommendations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Explorer with live support/confidence/lift sliders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dashboard: confidence vs. lift scatter plot, rule network graph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vs FP-Growth runtime benchmark comparison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0496B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2148840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B3D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148840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42632" y="2148840"/>
            <a:ext cx="589788" cy="329184"/>
          </a:xfrm>
          <a:prstGeom prst="roundRect">
            <a:avLst>
              <a:gd name="adj" fmla="val 50000"/>
            </a:avLst>
          </a:prstGeom>
          <a:solidFill>
            <a:srgbClr val="0B3D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42632" y="2148840"/>
            <a:ext cx="589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69580" y="214884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0B3D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69580" y="2148840"/>
            <a:ext cx="745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51976" y="214884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0B3D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51976" y="21488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222992" y="2148840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B3D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22992" y="2148840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65176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0B3D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2651760"/>
            <a:ext cx="745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20356" y="2651760"/>
            <a:ext cx="900684" cy="329184"/>
          </a:xfrm>
          <a:prstGeom prst="roundRect">
            <a:avLst>
              <a:gd name="adj" fmla="val 50000"/>
            </a:avLst>
          </a:prstGeom>
          <a:solidFill>
            <a:srgbClr val="0B3D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20356" y="2651760"/>
            <a:ext cx="9006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58200" y="2651760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B3D5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58200" y="2651760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62872" y="265176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0B3D5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62872" y="2651760"/>
            <a:ext cx="745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08792" y="6400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0496B"/>
          </a:solidFill>
          <a:ln w="12700">
            <a:solidFill>
              <a:srgbClr val="1C4C66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end-to-end, decoupled data mining application that converts raw retail transactions into explainable, statistically grounded product recommendations — with zero online learning needed.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0496B"/>
          </a:solidFill>
          <a:ln w="12700">
            <a:solidFill>
              <a:srgbClr val="1C4C66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could go next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collaborative filtering for per-user personalization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Hybridize with content-based embeddings (product text/images)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automatic re-training as new transactions arrive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recommendation impact on real conversion rate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2026-09-24T14:48:33Z</dcterms:created>
  <dcterms:modified xsi:type="dcterms:W3CDTF">2026-09-24T14:48:33Z</dcterms:modified>
</cp:coreProperties>
</file>